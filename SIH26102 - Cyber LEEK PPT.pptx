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Garamond"/>
      <p:regular r:id="rId17"/>
      <p:bold r:id="rId18"/>
      <p:italic r:id="rId19"/>
      <p:boldItalic r:id="rId20"/>
    </p:embeddedFont>
    <p:embeddedFont>
      <p:font typeface="Oswald"/>
      <p:regular r:id="rId21"/>
      <p:bold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aramond-boldItalic.fntdata"/><Relationship Id="rId22" Type="http://schemas.openxmlformats.org/officeDocument/2006/relationships/font" Target="fonts/Oswald-bold.fntdata"/><Relationship Id="rId21" Type="http://schemas.openxmlformats.org/officeDocument/2006/relationships/font" Target="fonts/Oswald-regular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Garamond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Garamond-italic.fntdata"/><Relationship Id="rId18" Type="http://schemas.openxmlformats.org/officeDocument/2006/relationships/font" Target="fonts/Garamon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9cb032df9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409cb032df9_7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409cb032df9_7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7" name="Google Shape;137;g409cb032df9_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409cb032df9_7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9cb032df9_7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1" name="Google Shape;151;g409cb032df9_7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409cb032df9_7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09cb032df9_7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3" name="Google Shape;163;g409cb032df9_7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409cb032df9_7_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09cb032df9_7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4" name="Google Shape;174;g409cb032df9_7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409cb032df9_7_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09cb032df9_7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6" name="Google Shape;186;g409cb032df9_7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409cb032df9_7_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mplads.gov.in/?utm_source=chatgpt.com" TargetMode="External"/><Relationship Id="rId4" Type="http://schemas.openxmlformats.org/officeDocument/2006/relationships/hyperlink" Target="https://mplads.gov.in/?utm_source=chatgpt.com" TargetMode="External"/><Relationship Id="rId10" Type="http://schemas.openxmlformats.org/officeDocument/2006/relationships/image" Target="../media/image2.png"/><Relationship Id="rId9" Type="http://schemas.openxmlformats.org/officeDocument/2006/relationships/hyperlink" Target="https://mplads.gov.in/?utm_source=chatgpt.com" TargetMode="External"/><Relationship Id="rId5" Type="http://schemas.openxmlformats.org/officeDocument/2006/relationships/hyperlink" Target="https://mplads.gov.in/?utm_source=chatgpt.com" TargetMode="External"/><Relationship Id="rId6" Type="http://schemas.openxmlformats.org/officeDocument/2006/relationships/hyperlink" Target="https://mplads.gov.in/?utm_source=chatgpt.com" TargetMode="External"/><Relationship Id="rId7" Type="http://schemas.openxmlformats.org/officeDocument/2006/relationships/hyperlink" Target="https://mplads.gov.in/?utm_source=chatgpt.com" TargetMode="External"/><Relationship Id="rId8" Type="http://schemas.openxmlformats.org/officeDocument/2006/relationships/hyperlink" Target="https://mplads.gov.in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1143000" y="0"/>
            <a:ext cx="6858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4833910" y="797866"/>
            <a:ext cx="3478953" cy="3866225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5756568" y="1446148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5"/>
          <p:cNvSpPr txBox="1"/>
          <p:nvPr>
            <p:ph type="ctrTitle"/>
          </p:nvPr>
        </p:nvSpPr>
        <p:spPr>
          <a:xfrm>
            <a:off x="248464" y="-376364"/>
            <a:ext cx="77724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3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0" y="1509100"/>
            <a:ext cx="53196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r>
              <a:rPr b="1" lang="en">
                <a:solidFill>
                  <a:schemeClr val="dk1"/>
                </a:solidFill>
              </a:rPr>
              <a:t> 26102</a:t>
            </a:r>
            <a:endParaRPr b="1"/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AI-Powered MPLADS Monitoring &amp; Fraud Detection System</a:t>
            </a:r>
            <a:endParaRPr/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  Smart Automation</a:t>
            </a:r>
            <a:endParaRPr/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Software</a:t>
            </a:r>
            <a:endParaRPr/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ID- 26</a:t>
            </a:r>
            <a:r>
              <a:rPr b="1" lang="en">
                <a:solidFill>
                  <a:schemeClr val="dk1"/>
                </a:solidFill>
              </a:rPr>
              <a:t>2</a:t>
            </a:r>
            <a:endParaRPr/>
          </a:p>
          <a:p>
            <a:pPr indent="-190500" lvl="0" marL="215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- Cyber </a:t>
            </a:r>
            <a:r>
              <a:rPr b="1" lang="en">
                <a:solidFill>
                  <a:schemeClr val="dk1"/>
                </a:solidFill>
              </a:rPr>
              <a:t>LEEK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>
            <p:ph type="title"/>
          </p:nvPr>
        </p:nvSpPr>
        <p:spPr>
          <a:xfrm>
            <a:off x="137249" y="1324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45720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Times New Roman"/>
                <a:ea typeface="Times New Roman"/>
                <a:cs typeface="Times New Roman"/>
                <a:sym typeface="Times New Roman"/>
              </a:rPr>
              <a:t>AI-Powered MPLADS Monitoring &amp; Fraud Detection System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 txBox="1"/>
          <p:nvPr>
            <p:ph idx="12" type="sldNum"/>
          </p:nvPr>
        </p:nvSpPr>
        <p:spPr>
          <a:xfrm>
            <a:off x="6717325" y="4817840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100">
                <a:solidFill>
                  <a:schemeClr val="lt1"/>
                </a:solidFill>
              </a:rPr>
              <a:t>‹#›</a:t>
            </a:fld>
            <a:endParaRPr b="1" sz="1100">
              <a:solidFill>
                <a:schemeClr val="lt1"/>
              </a:solidFill>
            </a:endParaRPr>
          </a:p>
        </p:txBody>
      </p:sp>
      <p:sp>
        <p:nvSpPr>
          <p:cNvPr descr="Your startup LOGO" id="143" name="Google Shape;143;p26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 LEEK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952425" y="2334025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288775" y="1049200"/>
            <a:ext cx="8455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centralized AI-powered platform that continuously analyzes MPLADS project, financial, payment and progress data to identify unusual patterns and prioritize high-risk cases.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rgbClr val="34495E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137250" y="1617288"/>
            <a:ext cx="44958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Key Challenges</a:t>
            </a:r>
            <a:endParaRPr b="1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Unusual Project Costs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 Difficult to identify unusually high or low expenses in large Dataset manually.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Duplicate Projects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 Similar projects may be difficult to detect manually.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Expenditure Mismatch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 Differences between sanctioned and actual spending need verification.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Manual Monitoring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 Large datasets require significant time to analyze.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Early Detection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: Suspicious patterns can be difficult to identify at an early stage.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050" y="1626713"/>
            <a:ext cx="4274851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457200" y="-291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1100"/>
          </a:p>
        </p:txBody>
      </p:sp>
      <p:sp>
        <p:nvSpPr>
          <p:cNvPr id="156" name="Google Shape;156;p27"/>
          <p:cNvSpPr txBox="1"/>
          <p:nvPr/>
        </p:nvSpPr>
        <p:spPr>
          <a:xfrm>
            <a:off x="457200" y="1299500"/>
            <a:ext cx="42966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Tech Stack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Frontend UI:</a:t>
            </a:r>
            <a:r>
              <a:rPr lang="en">
                <a:solidFill>
                  <a:schemeClr val="dk1"/>
                </a:solidFill>
              </a:rPr>
              <a:t> React / Next.js + Tailwind CSS </a:t>
            </a:r>
            <a:r>
              <a:rPr i="1" lang="en">
                <a:solidFill>
                  <a:schemeClr val="dk1"/>
                </a:solidFill>
              </a:rPr>
              <a:t>(Deployed on Vercel)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Backend API:</a:t>
            </a:r>
            <a:r>
              <a:rPr lang="en">
                <a:solidFill>
                  <a:schemeClr val="dk1"/>
                </a:solidFill>
              </a:rPr>
              <a:t> Python (FastAPI) </a:t>
            </a:r>
            <a:r>
              <a:rPr i="1" lang="en">
                <a:solidFill>
                  <a:schemeClr val="dk1"/>
                </a:solidFill>
              </a:rPr>
              <a:t>(API layer connecting UI and ML)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Database:</a:t>
            </a:r>
            <a:r>
              <a:rPr lang="en">
                <a:solidFill>
                  <a:schemeClr val="dk1"/>
                </a:solidFill>
              </a:rPr>
              <a:t> Supabase (PostgreSQL) </a:t>
            </a:r>
            <a:r>
              <a:rPr i="1" lang="en">
                <a:solidFill>
                  <a:schemeClr val="dk1"/>
                </a:solidFill>
              </a:rPr>
              <a:t>(Cloud database for seed and live data)</a:t>
            </a:r>
            <a:endParaRPr i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AI / ML Model:</a:t>
            </a:r>
            <a:r>
              <a:rPr lang="en">
                <a:solidFill>
                  <a:schemeClr val="dk1"/>
                </a:solidFill>
              </a:rPr>
              <a:t> Scikit-Learn (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IsolationForest</a:t>
            </a:r>
            <a:r>
              <a:rPr lang="en">
                <a:solidFill>
                  <a:schemeClr val="dk1"/>
                </a:solidFill>
              </a:rPr>
              <a:t>) </a:t>
            </a:r>
            <a:r>
              <a:rPr i="1" lang="en">
                <a:solidFill>
                  <a:schemeClr val="dk1"/>
                </a:solidFill>
              </a:rPr>
              <a:t>(Anomaly detection &amp; risk scoring)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100">
                <a:solidFill>
                  <a:schemeClr val="lt1"/>
                </a:solidFill>
              </a:rPr>
              <a:t>‹#›</a:t>
            </a:fld>
            <a:endParaRPr b="1" sz="1100">
              <a:solidFill>
                <a:schemeClr val="lt1"/>
              </a:solidFill>
            </a:endParaRPr>
          </a:p>
        </p:txBody>
      </p:sp>
      <p:sp>
        <p:nvSpPr>
          <p:cNvPr descr="Your startup LOGO" id="158" name="Google Shape;158;p27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 LEEK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1225" y="911175"/>
            <a:ext cx="3627425" cy="374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8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1100"/>
          </a:p>
        </p:txBody>
      </p:sp>
      <p:sp>
        <p:nvSpPr>
          <p:cNvPr id="168" name="Google Shape;168;p28"/>
          <p:cNvSpPr txBox="1"/>
          <p:nvPr/>
        </p:nvSpPr>
        <p:spPr>
          <a:xfrm>
            <a:off x="424800" y="908475"/>
            <a:ext cx="85257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Feasibility: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Accessible Tech Stack: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FastAPI provides a fast, seamless bridge between the ML layer and the frontend, while Next.js and Tailwind CSS enable rapid, modular UI development.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Rapid Prototyping &amp; Infrastructure: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Vercel offers instant frontend hosting, and Supabase provides a ready-to-use managed PostgreSQL backend, eliminating complex database setup.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Efficient ML Implementation: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Using Scikit-Learn's IsolationForest instantly isolates statistical outliers and assigns risk scores without the immense computing power needed for deep learning.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Viability: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Enterprise-Grade Foundation: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Supabase is built on PostgreSQL, a proven open-source standard widely trusted for secure and structured government data management.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Low Cost &amp; High Scalability: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Relying on open-source frameworks and serverless databases avoids expensive enterprise licenses while easily scaling to handle high transaction volumes.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Maintainable Architecture: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strict separation of concerns (Next.js for UI, FastAPI for logic/ML, Supabase for data) makes the system highly organized and easy for government IT teams to inherit and maintain.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8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70" name="Google Shape;170;p28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 LEEK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9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1100"/>
          </a:p>
        </p:txBody>
      </p:sp>
      <p:sp>
        <p:nvSpPr>
          <p:cNvPr id="179" name="Google Shape;179;p29"/>
          <p:cNvSpPr txBox="1"/>
          <p:nvPr/>
        </p:nvSpPr>
        <p:spPr>
          <a:xfrm>
            <a:off x="158250" y="1164600"/>
            <a:ext cx="48318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Potential Impact on Target Audience: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Faster identification of suspicious and delayed projects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Better monitoring of MPLADS funds and project progress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Improved transparency and accountability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Benefits of the Solution: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Early anomaly and risk detection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Reduced manual monitoring effort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Better fund utilization and decision-making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Timely intervention in high-risk projects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9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81" name="Google Shape;181;p29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 LEEK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550" y="953445"/>
            <a:ext cx="4450448" cy="3236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0"/>
          <p:cNvSpPr txBox="1"/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sz="1100"/>
          </a:p>
        </p:txBody>
      </p:sp>
      <p:sp>
        <p:nvSpPr>
          <p:cNvPr id="191" name="Google Shape;191;p30"/>
          <p:cNvSpPr txBox="1"/>
          <p:nvPr/>
        </p:nvSpPr>
        <p:spPr>
          <a:xfrm>
            <a:off x="457200" y="1329148"/>
            <a:ext cx="7038900" cy="3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References: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Official MPLADS Portal: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https://mplads.gov.in/</a:t>
            </a:r>
            <a:endParaRPr b="1" u="sng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MPLADS eSAKSHI / Dashboard: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https://mplads.gov.in/</a:t>
            </a:r>
            <a:endParaRPr b="1" u="sng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MPLADS Sc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heme Guidelines and Reports: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https://mplads.gov.in/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MPLADS Dashboard: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5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https://mplads.mospi.gov.in/digigov/dashboard.html</a:t>
            </a:r>
            <a:endParaRPr b="1" sz="1500" u="sng">
              <a:solidFill>
                <a:schemeClr val="hlink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Research Approach:</a:t>
            </a:r>
            <a:endParaRPr b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MPLADS Data &amp; Reports → Data Analysis → AI-Based Anomaly Detection → Risk Scoring → Smart Alerts </a:t>
            </a:r>
            <a:endParaRPr i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b="1" i="0" lang="en" sz="9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9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93" name="Google Shape;193;p30"/>
          <p:cNvSpPr/>
          <p:nvPr/>
        </p:nvSpPr>
        <p:spPr>
          <a:xfrm>
            <a:off x="247330" y="189184"/>
            <a:ext cx="938893" cy="605501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Cyber LEEK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35065" y="1125"/>
            <a:ext cx="1687388" cy="796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